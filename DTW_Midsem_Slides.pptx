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short on time, cut the leakage controls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"directionally consistent, not statistically proven". Do not say "DTW works".
Use 6/6 for the strict-separation era and 8/10 for all post-2020 tests. Do not use "8/8".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14300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83464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929384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1430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Does DTW Improve Regime-Aware Portfolio Construction?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8346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P. Mohan Karthik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ID: 2023B3A70469H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Instructor: Utkarsh Kumar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Objective and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Problem: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standard covariance only captures same-day co-movement. Stocks that react to the same news with a lag get missed.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Idea: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use Dynamic Time Warping (DTW) to measure similarity between stocks even when their moves are time-shifted.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Research question: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within HMM-detected market regimes, does DTW-based covariance improve out-of-sample portfolio performance over standard covariance? Are any gains significant and robust across training windows and periods?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Scope: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Nifty 50, Nifty Bank and Nifty Midcap 100, daily data, 2008-2026.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chemeClr val="tx1"/>
                </a:solidFill>
              </a:rPr>
              <a:t>Regime detection: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4-state HMM on Nifty index features (return, 20‑day volatility, 60‑day drawdown, 5‑day momentum), merged into Bull, Sideways and Bear.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chemeClr val="tx1"/>
                </a:solidFill>
              </a:rPr>
              <a:t>Episodes: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group days into contiguous regime episodes.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chemeClr val="tx1"/>
                </a:solidFill>
              </a:rPr>
              <a:t>Two covariance matrices per regime, from training data only:</a:t>
            </a:r>
            <a:endParaRPr lang="en-US" sz="14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Standard sample covariance</a:t>
            </a:r>
            <a:endParaRPr lang="en-US" sz="14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DTW distance per episode, averaged across episodes, then Gaussian kernel, PSD correction and volatility scaling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chemeClr val="tx1"/>
                </a:solidFill>
              </a:rPr>
              <a:t>Optimize: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maximize Sharpe with a 40% weight cap, then freeze the weights.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chemeClr val="tx1"/>
                </a:solidFill>
              </a:rPr>
              <a:t>Test: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walk-forward on unseen data, with expanding training windows.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Leakage controls: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Trailing-only smoothing, not centered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Day-by-day regime decoding, not whole-sequence Viterbi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Training-only DTW and covariance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Work Completed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16 tests, three universes, two eras, three horizons</a:t>
            </a:r>
            <a:endParaRPr lang="en-US" sz="1200" dirty="0"/>
          </a:p>
        </p:txBody>
      </p:sp>
      <p:graphicFrame>
        <p:nvGraphicFramePr>
          <p:cNvPr id="5" name="Summ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80060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01168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Study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DTW Sharpe higher in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All tests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 of 16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Strict-separation recent era (2020-26)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 of 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All post-2020 test periods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 of 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Pre-2020 (Nifty 50 vs Bank)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Mixed: Nifty 50 favors DTW, Bank favors Standard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577840" y="1143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Example: Nifty 50, 2020-26, strict separation</a:t>
            </a:r>
            <a:endParaRPr lang="en-US" sz="1200" dirty="0"/>
          </a:p>
        </p:txBody>
      </p:sp>
      <p:graphicFrame>
        <p:nvGraphicFramePr>
          <p:cNvPr id="9" name="Examp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63040"/>
          <a:ext cx="3017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Horizon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Standard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DTW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1-day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1.063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1.184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5-day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1.057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1.239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22-day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1.007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1.180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329184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Key findings: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test is statistically significant. 0 of 16 survive Bonferroni or Benjamini-Hochberg correction.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verdict flips with training-window design. The original 2015-start Nifty 50 expanding window favored Standard (1.31 vs 1.04).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result is directional, not proven.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Plan After Midsem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chemeClr val="tx1"/>
                </a:solidFill>
              </a:rPr>
              <a:t>Literature search: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pin down exactly what is novel in DTW + HMM + regime‑conditioned portfolios.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chemeClr val="tx1"/>
                </a:solidFill>
              </a:rPr>
              <a:t>Mechanism check: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plot DTW warping paths and compare against lagged cross‑correlation, to confirm DTW is really capturing lead-lag.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chemeClr val="tx1"/>
                </a:solidFill>
              </a:rPr>
              <a:t>Robustness of the DTW construction: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kernel bandwidth, episode-length normalization, short‑episode exclusion.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chemeClr val="tx1"/>
                </a:solidFill>
              </a:rPr>
              <a:t>Regime-transition analysis: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does DTW help around Bull-to-Bear switches?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chemeClr val="tx1"/>
                </a:solidFill>
              </a:rPr>
              <a:t>Costs and metrics: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transaction costs at 0/10/20 bps across all studies, plus Sortino and Calmar.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chemeClr val="tx1"/>
                </a:solidFill>
              </a:rPr>
              <a:t>Write-up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of the findings.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929384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TW Midsem">
  <a:themeElements>
    <a:clrScheme name="DTW Midsem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C00000"/>
      </a:accent1>
      <a:accent2>
        <a:srgbClr val="7F7F7F"/>
      </a:accent2>
      <a:accent3>
        <a:srgbClr val="A5A5A5"/>
      </a:accent3>
      <a:accent4>
        <a:srgbClr val="595959"/>
      </a:accent4>
      <a:accent5>
        <a:srgbClr val="262626"/>
      </a:accent5>
      <a:accent6>
        <a:srgbClr val="0D0D0D"/>
      </a:accent6>
      <a:hlink>
        <a:srgbClr val="C00000"/>
      </a:hlink>
      <a:folHlink>
        <a:srgbClr val="7F7F7F"/>
      </a:folHlink>
    </a:clrScheme>
    <a:fontScheme name="DTW Midse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DTW Improve Regime-Aware Portfolio Construction?</dc:title>
  <dc:subject>PptxGenJS Presentation</dc:subject>
  <dc:creator>P. Mohan Karthik</dc:creator>
  <cp:lastModifiedBy>P. Mohan Karthik</cp:lastModifiedBy>
  <cp:revision>1</cp:revision>
  <dcterms:created xsi:type="dcterms:W3CDTF">2026-10-14T11:57:55Z</dcterms:created>
  <dcterms:modified xsi:type="dcterms:W3CDTF">2026-10-14T11:57:55Z</dcterms:modified>
</cp:coreProperties>
</file>